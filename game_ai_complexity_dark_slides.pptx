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7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043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Данные генерируются в открытой исследовательской среде, поэтому источник легален и легко воспроизводим. Если меняются seed или параметры, pipeline пересчитывает все заново.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11480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00D1FF"/>
                </a:solidFill>
                <a:latin typeface="Calibri"/>
              </a:rPr>
              <a:t>GAME AI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777240"/>
            <a:ext cx="7818120" cy="8412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100" b="1" dirty="0" err="1">
                <a:solidFill>
                  <a:srgbClr val="F0F6FC"/>
                </a:solidFill>
                <a:latin typeface="Calibri Light"/>
              </a:rPr>
              <a:t>Прогнозирование</a:t>
            </a:r>
            <a:r>
              <a:rPr sz="3100" b="1" dirty="0">
                <a:solidFill>
                  <a:srgbClr val="F0F6FC"/>
                </a:solidFill>
                <a:latin typeface="Calibri Light"/>
              </a:rPr>
              <a:t> </a:t>
            </a:r>
            <a:r>
              <a:rPr sz="3100" b="1" dirty="0" err="1">
                <a:solidFill>
                  <a:srgbClr val="F0F6FC"/>
                </a:solidFill>
                <a:latin typeface="Calibri Light"/>
              </a:rPr>
              <a:t>сложности</a:t>
            </a:r>
            <a:r>
              <a:rPr sz="3100" b="1" dirty="0">
                <a:solidFill>
                  <a:srgbClr val="F0F6FC"/>
                </a:solidFill>
                <a:latin typeface="Calibri Light"/>
              </a:rPr>
              <a:t> </a:t>
            </a:r>
            <a:r>
              <a:rPr sz="3100" b="1" dirty="0" err="1">
                <a:solidFill>
                  <a:srgbClr val="F0F6FC"/>
                </a:solidFill>
                <a:latin typeface="Calibri Light"/>
              </a:rPr>
              <a:t>процедурно</a:t>
            </a:r>
            <a:r>
              <a:rPr sz="3100" b="1" dirty="0">
                <a:solidFill>
                  <a:srgbClr val="F0F6FC"/>
                </a:solidFill>
                <a:latin typeface="Calibri Light"/>
              </a:rPr>
              <a:t> </a:t>
            </a:r>
            <a:r>
              <a:rPr sz="3100" b="1" dirty="0" err="1">
                <a:solidFill>
                  <a:srgbClr val="F0F6FC"/>
                </a:solidFill>
                <a:latin typeface="Calibri Light"/>
              </a:rPr>
              <a:t>сгенерированных</a:t>
            </a:r>
            <a:r>
              <a:rPr sz="3100" b="1" dirty="0">
                <a:solidFill>
                  <a:srgbClr val="F0F6FC"/>
                </a:solidFill>
                <a:latin typeface="Calibri Light"/>
              </a:rPr>
              <a:t> </a:t>
            </a:r>
            <a:r>
              <a:rPr sz="3100" b="1" dirty="0" err="1">
                <a:solidFill>
                  <a:srgbClr val="F0F6FC"/>
                </a:solidFill>
                <a:latin typeface="Calibri Light"/>
              </a:rPr>
              <a:t>игровых</a:t>
            </a:r>
            <a:r>
              <a:rPr sz="3100" b="1" dirty="0">
                <a:solidFill>
                  <a:srgbClr val="F0F6FC"/>
                </a:solidFill>
                <a:latin typeface="Calibri Light"/>
              </a:rPr>
              <a:t> </a:t>
            </a:r>
            <a:r>
              <a:rPr sz="3100" b="1" dirty="0" err="1">
                <a:solidFill>
                  <a:srgbClr val="F0F6FC"/>
                </a:solidFill>
                <a:latin typeface="Calibri Light"/>
              </a:rPr>
              <a:t>уровней</a:t>
            </a:r>
            <a:endParaRPr sz="3100" b="1" dirty="0">
              <a:solidFill>
                <a:srgbClr val="F0F6FC"/>
              </a:solidFill>
              <a:latin typeface="Calibri Ligh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2011680"/>
            <a:ext cx="987552" cy="310896"/>
          </a:xfrm>
          <a:prstGeom prst="roundRect">
            <a:avLst/>
          </a:prstGeom>
          <a:solidFill>
            <a:srgbClr val="0C1526"/>
          </a:solidFill>
          <a:ln w="13970">
            <a:solidFill>
              <a:srgbClr val="00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 err="1">
                <a:solidFill>
                  <a:srgbClr val="00D1FF"/>
                </a:solidFill>
                <a:latin typeface="Calibri"/>
              </a:rPr>
              <a:t>MiniGrid</a:t>
            </a:r>
            <a:endParaRPr sz="1000" b="1" dirty="0">
              <a:solidFill>
                <a:srgbClr val="00D1FF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792224" y="2011680"/>
            <a:ext cx="1143000" cy="310896"/>
          </a:xfrm>
          <a:prstGeom prst="roundRect">
            <a:avLst/>
          </a:prstGeom>
          <a:solidFill>
            <a:srgbClr val="0C1526"/>
          </a:solidFill>
          <a:ln w="13970">
            <a:solidFill>
              <a:srgbClr val="48E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48E2A4"/>
                </a:solidFill>
                <a:latin typeface="Calibri"/>
              </a:rPr>
              <a:t>AI-</a:t>
            </a:r>
            <a:r>
              <a:rPr sz="1000" b="1" dirty="0" err="1">
                <a:solidFill>
                  <a:srgbClr val="48E2A4"/>
                </a:solidFill>
                <a:latin typeface="Calibri"/>
              </a:rPr>
              <a:t>агенты</a:t>
            </a:r>
            <a:endParaRPr sz="1000" b="1" dirty="0">
              <a:solidFill>
                <a:srgbClr val="48E2A4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090672" y="2011680"/>
            <a:ext cx="1097280" cy="310896"/>
          </a:xfrm>
          <a:prstGeom prst="roundRect">
            <a:avLst/>
          </a:prstGeom>
          <a:solidFill>
            <a:srgbClr val="0C1526"/>
          </a:solidFill>
          <a:ln w="1397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C457"/>
                </a:solidFill>
                <a:latin typeface="Calibri"/>
              </a:rPr>
              <a:t>Bayesian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2011680"/>
            <a:ext cx="1143000" cy="310896"/>
          </a:xfrm>
          <a:prstGeom prst="roundRect">
            <a:avLst/>
          </a:prstGeom>
          <a:solidFill>
            <a:srgbClr val="0C1526"/>
          </a:solidFill>
          <a:ln w="1397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6B6B"/>
                </a:solidFill>
                <a:latin typeface="Calibri"/>
              </a:rPr>
              <a:t>SHAP/LIME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596896"/>
            <a:ext cx="5440680" cy="2907792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3E5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871216"/>
            <a:ext cx="34747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D1FF"/>
                </a:solidFill>
                <a:latin typeface="Calibri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35608" y="2926080"/>
            <a:ext cx="45720" cy="512064"/>
          </a:xfrm>
          <a:prstGeom prst="rect">
            <a:avLst/>
          </a:prstGeom>
          <a:solidFill>
            <a:srgbClr val="00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45920" y="2852928"/>
            <a:ext cx="2011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00D1FF"/>
                </a:solidFill>
                <a:latin typeface="Calibri"/>
              </a:rPr>
              <a:t>Проблема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145536"/>
            <a:ext cx="3474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F0F6FC"/>
                </a:solidFill>
                <a:latin typeface="Calibri"/>
              </a:rPr>
              <a:t>Субъективная оценка сложности плохо масштабируется при процедурной генерации уровней.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67327"/>
            <a:ext cx="34747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48E2A4"/>
                </a:solidFill>
                <a:latin typeface="Calibr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35608" y="3822191"/>
            <a:ext cx="45720" cy="512064"/>
          </a:xfrm>
          <a:prstGeom prst="rect">
            <a:avLst/>
          </a:prstGeom>
          <a:solidFill>
            <a:srgbClr val="48E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0" y="3749039"/>
            <a:ext cx="2011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48E2A4"/>
                </a:solidFill>
                <a:latin typeface="Calibri"/>
              </a:rPr>
              <a:t>Цель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041648"/>
            <a:ext cx="3474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F0F6FC"/>
                </a:solidFill>
                <a:latin typeface="Calibri"/>
              </a:rPr>
              <a:t>Построить pipeline, который оценивает сложность по структуре карты и поведению AI-агентов.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663440"/>
            <a:ext cx="34747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FFC457"/>
                </a:solidFill>
                <a:latin typeface="Calibri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35608" y="4718304"/>
            <a:ext cx="45720" cy="512064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45920" y="4645152"/>
            <a:ext cx="2011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FFC457"/>
                </a:solidFill>
                <a:latin typeface="Calibri"/>
              </a:rPr>
              <a:t>Гипотеза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937760"/>
            <a:ext cx="3474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F0F6FC"/>
                </a:solidFill>
                <a:latin typeface="Calibri"/>
              </a:rPr>
              <a:t>Длина пути, препятствия, тупики и ветвистость маршрута предсказывают P(success).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31152" y="2368296"/>
            <a:ext cx="4297680" cy="2907792"/>
          </a:xfrm>
          <a:prstGeom prst="roundRect">
            <a:avLst/>
          </a:prstGeom>
          <a:solidFill>
            <a:srgbClr val="0D192D"/>
          </a:solidFill>
          <a:ln w="12700">
            <a:solidFill>
              <a:srgbClr val="00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42048" y="2468880"/>
            <a:ext cx="36576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00D1FF"/>
                </a:solidFill>
                <a:latin typeface="Calibri"/>
              </a:rPr>
              <a:t>Оригинальность метрики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834640"/>
            <a:ext cx="3694176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500" b="1">
                <a:solidFill>
                  <a:srgbClr val="F0F6FC"/>
                </a:solidFill>
                <a:latin typeface="Calibri Light"/>
              </a:rPr>
              <a:t>difficulty = 1 - P(success)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419856"/>
            <a:ext cx="309067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9EAEC3"/>
                </a:solidFill>
                <a:latin typeface="Calibri"/>
              </a:rPr>
              <a:t>сложность определяется как вероятность непрохождения уровня агентом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3840480"/>
            <a:ext cx="217627" cy="217627"/>
          </a:xfrm>
          <a:prstGeom prst="rect">
            <a:avLst/>
          </a:prstGeom>
          <a:solidFill>
            <a:srgbClr val="176675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8E2A4"/>
                </a:solidFill>
                <a:latin typeface="Calibri"/>
              </a:rPr>
              <a:t>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840480"/>
            <a:ext cx="217627" cy="217627"/>
          </a:xfrm>
          <a:prstGeom prst="rect">
            <a:avLst/>
          </a:prstGeom>
          <a:solidFill>
            <a:srgbClr val="176675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458200" y="3840480"/>
            <a:ext cx="217627" cy="217627"/>
          </a:xfrm>
          <a:prstGeom prst="rect">
            <a:avLst/>
          </a:prstGeom>
          <a:solidFill>
            <a:srgbClr val="176675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686800" y="3840480"/>
            <a:ext cx="217627" cy="217627"/>
          </a:xfrm>
          <a:prstGeom prst="rect">
            <a:avLst/>
          </a:prstGeom>
          <a:solidFill>
            <a:srgbClr val="243046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915400" y="3840480"/>
            <a:ext cx="217627" cy="217627"/>
          </a:xfrm>
          <a:prstGeom prst="rect">
            <a:avLst/>
          </a:prstGeom>
          <a:solidFill>
            <a:srgbClr val="EBF1F7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44000" y="3840480"/>
            <a:ext cx="217627" cy="217627"/>
          </a:xfrm>
          <a:prstGeom prst="rect">
            <a:avLst/>
          </a:prstGeom>
          <a:solidFill>
            <a:srgbClr val="EBF1F7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372600" y="3840480"/>
            <a:ext cx="217627" cy="217627"/>
          </a:xfrm>
          <a:prstGeom prst="rect">
            <a:avLst/>
          </a:prstGeom>
          <a:solidFill>
            <a:srgbClr val="EBF1F7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601200" y="3840480"/>
            <a:ext cx="217627" cy="217627"/>
          </a:xfrm>
          <a:prstGeom prst="rect">
            <a:avLst/>
          </a:prstGeom>
          <a:solidFill>
            <a:srgbClr val="EBF1F7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01000" y="4069080"/>
            <a:ext cx="217627" cy="217627"/>
          </a:xfrm>
          <a:prstGeom prst="rect">
            <a:avLst/>
          </a:prstGeom>
          <a:solidFill>
            <a:srgbClr val="243046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29600" y="4069080"/>
            <a:ext cx="217627" cy="217627"/>
          </a:xfrm>
          <a:prstGeom prst="rect">
            <a:avLst/>
          </a:prstGeom>
          <a:solidFill>
            <a:srgbClr val="243046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458200" y="4069080"/>
            <a:ext cx="217627" cy="217627"/>
          </a:xfrm>
          <a:prstGeom prst="rect">
            <a:avLst/>
          </a:prstGeom>
          <a:solidFill>
            <a:srgbClr val="176675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686800" y="4069080"/>
            <a:ext cx="217627" cy="217627"/>
          </a:xfrm>
          <a:prstGeom prst="rect">
            <a:avLst/>
          </a:prstGeom>
          <a:solidFill>
            <a:srgbClr val="243046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915400" y="4069080"/>
            <a:ext cx="217627" cy="217627"/>
          </a:xfrm>
          <a:prstGeom prst="rect">
            <a:avLst/>
          </a:prstGeom>
          <a:solidFill>
            <a:srgbClr val="EBF1F7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144000" y="4069080"/>
            <a:ext cx="217627" cy="217627"/>
          </a:xfrm>
          <a:prstGeom prst="rect">
            <a:avLst/>
          </a:prstGeom>
          <a:solidFill>
            <a:srgbClr val="243046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372600" y="4069080"/>
            <a:ext cx="217627" cy="217627"/>
          </a:xfrm>
          <a:prstGeom prst="rect">
            <a:avLst/>
          </a:prstGeom>
          <a:solidFill>
            <a:srgbClr val="243046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601200" y="4069080"/>
            <a:ext cx="217627" cy="217627"/>
          </a:xfrm>
          <a:prstGeom prst="rect">
            <a:avLst/>
          </a:prstGeom>
          <a:solidFill>
            <a:srgbClr val="EBF1F7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01000" y="4297680"/>
            <a:ext cx="217627" cy="217627"/>
          </a:xfrm>
          <a:prstGeom prst="rect">
            <a:avLst/>
          </a:prstGeom>
          <a:solidFill>
            <a:srgbClr val="176675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229600" y="4297680"/>
            <a:ext cx="217627" cy="217627"/>
          </a:xfrm>
          <a:prstGeom prst="rect">
            <a:avLst/>
          </a:prstGeom>
          <a:solidFill>
            <a:srgbClr val="176675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458200" y="4297680"/>
            <a:ext cx="217627" cy="217627"/>
          </a:xfrm>
          <a:prstGeom prst="rect">
            <a:avLst/>
          </a:prstGeom>
          <a:solidFill>
            <a:srgbClr val="176675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686800" y="4297680"/>
            <a:ext cx="217627" cy="217627"/>
          </a:xfrm>
          <a:prstGeom prst="rect">
            <a:avLst/>
          </a:prstGeom>
          <a:solidFill>
            <a:srgbClr val="243046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915400" y="4297680"/>
            <a:ext cx="217627" cy="217627"/>
          </a:xfrm>
          <a:prstGeom prst="rect">
            <a:avLst/>
          </a:prstGeom>
          <a:solidFill>
            <a:srgbClr val="EBF1F7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44000" y="4297680"/>
            <a:ext cx="217627" cy="217627"/>
          </a:xfrm>
          <a:prstGeom prst="rect">
            <a:avLst/>
          </a:prstGeom>
          <a:solidFill>
            <a:srgbClr val="EBF1F7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372600" y="4297680"/>
            <a:ext cx="217627" cy="217627"/>
          </a:xfrm>
          <a:prstGeom prst="rect">
            <a:avLst/>
          </a:prstGeom>
          <a:solidFill>
            <a:srgbClr val="EBF1F7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601200" y="4297680"/>
            <a:ext cx="217627" cy="217627"/>
          </a:xfrm>
          <a:prstGeom prst="rect">
            <a:avLst/>
          </a:prstGeom>
          <a:solidFill>
            <a:srgbClr val="EBF1F7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001000" y="4526280"/>
            <a:ext cx="217627" cy="217627"/>
          </a:xfrm>
          <a:prstGeom prst="rect">
            <a:avLst/>
          </a:prstGeom>
          <a:solidFill>
            <a:srgbClr val="176675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229600" y="4526280"/>
            <a:ext cx="217627" cy="217627"/>
          </a:xfrm>
          <a:prstGeom prst="rect">
            <a:avLst/>
          </a:prstGeom>
          <a:solidFill>
            <a:srgbClr val="243046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458200" y="4526280"/>
            <a:ext cx="217627" cy="217627"/>
          </a:xfrm>
          <a:prstGeom prst="rect">
            <a:avLst/>
          </a:prstGeom>
          <a:solidFill>
            <a:srgbClr val="243046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686800" y="4526280"/>
            <a:ext cx="217627" cy="217627"/>
          </a:xfrm>
          <a:prstGeom prst="rect">
            <a:avLst/>
          </a:prstGeom>
          <a:solidFill>
            <a:srgbClr val="243046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915400" y="4526280"/>
            <a:ext cx="217627" cy="217627"/>
          </a:xfrm>
          <a:prstGeom prst="rect">
            <a:avLst/>
          </a:prstGeom>
          <a:solidFill>
            <a:srgbClr val="EBF1F7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144000" y="4526280"/>
            <a:ext cx="217627" cy="217627"/>
          </a:xfrm>
          <a:prstGeom prst="rect">
            <a:avLst/>
          </a:prstGeom>
          <a:solidFill>
            <a:srgbClr val="243046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372600" y="4526280"/>
            <a:ext cx="217627" cy="217627"/>
          </a:xfrm>
          <a:prstGeom prst="rect">
            <a:avLst/>
          </a:prstGeom>
          <a:solidFill>
            <a:srgbClr val="243046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601200" y="4526280"/>
            <a:ext cx="217627" cy="217627"/>
          </a:xfrm>
          <a:prstGeom prst="rect">
            <a:avLst/>
          </a:prstGeom>
          <a:solidFill>
            <a:srgbClr val="EBF1F7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001000" y="4754880"/>
            <a:ext cx="217627" cy="217627"/>
          </a:xfrm>
          <a:prstGeom prst="rect">
            <a:avLst/>
          </a:prstGeom>
          <a:solidFill>
            <a:srgbClr val="176675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229600" y="4754880"/>
            <a:ext cx="217627" cy="217627"/>
          </a:xfrm>
          <a:prstGeom prst="rect">
            <a:avLst/>
          </a:prstGeom>
          <a:solidFill>
            <a:srgbClr val="176675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458200" y="4754880"/>
            <a:ext cx="217627" cy="217627"/>
          </a:xfrm>
          <a:prstGeom prst="rect">
            <a:avLst/>
          </a:prstGeom>
          <a:solidFill>
            <a:srgbClr val="176675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686800" y="4754880"/>
            <a:ext cx="217627" cy="217627"/>
          </a:xfrm>
          <a:prstGeom prst="rect">
            <a:avLst/>
          </a:prstGeom>
          <a:solidFill>
            <a:srgbClr val="176675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915400" y="4754880"/>
            <a:ext cx="217627" cy="217627"/>
          </a:xfrm>
          <a:prstGeom prst="rect">
            <a:avLst/>
          </a:prstGeom>
          <a:solidFill>
            <a:srgbClr val="243046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144000" y="4754880"/>
            <a:ext cx="217627" cy="217627"/>
          </a:xfrm>
          <a:prstGeom prst="rect">
            <a:avLst/>
          </a:prstGeom>
          <a:solidFill>
            <a:srgbClr val="EBF1F7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372600" y="4754880"/>
            <a:ext cx="217627" cy="217627"/>
          </a:xfrm>
          <a:prstGeom prst="rect">
            <a:avLst/>
          </a:prstGeom>
          <a:solidFill>
            <a:srgbClr val="EBF1F7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601200" y="4754880"/>
            <a:ext cx="217627" cy="217627"/>
          </a:xfrm>
          <a:prstGeom prst="rect">
            <a:avLst/>
          </a:prstGeom>
          <a:solidFill>
            <a:srgbClr val="EBF1F7"/>
          </a:solidFill>
          <a:ln w="4445">
            <a:solidFill>
              <a:srgbClr val="46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6B6B"/>
                </a:solidFill>
                <a:latin typeface="Calibri"/>
              </a:rPr>
              <a:t>G</a:t>
            </a:r>
          </a:p>
        </p:txBody>
      </p:sp>
      <p:sp>
        <p:nvSpPr>
          <p:cNvPr id="71" name="Oval 70"/>
          <p:cNvSpPr/>
          <p:nvPr/>
        </p:nvSpPr>
        <p:spPr>
          <a:xfrm>
            <a:off x="749808" y="5989320"/>
            <a:ext cx="384048" cy="384048"/>
          </a:xfrm>
          <a:prstGeom prst="ellipse">
            <a:avLst/>
          </a:prstGeom>
          <a:solidFill>
            <a:srgbClr val="00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252728" y="6062472"/>
            <a:ext cx="1033271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F0F6FC"/>
                </a:solidFill>
                <a:latin typeface="Calibri"/>
              </a:rPr>
              <a:t>Seed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84831" y="6163056"/>
            <a:ext cx="384048" cy="32004"/>
          </a:xfrm>
          <a:prstGeom prst="rect">
            <a:avLst/>
          </a:prstGeom>
          <a:solidFill>
            <a:srgbClr val="3E5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633472" y="5989320"/>
            <a:ext cx="384048" cy="384048"/>
          </a:xfrm>
          <a:prstGeom prst="ellipse">
            <a:avLst/>
          </a:prstGeom>
          <a:solidFill>
            <a:srgbClr val="48E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136391" y="6062472"/>
            <a:ext cx="1033271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F0F6FC"/>
                </a:solidFill>
                <a:latin typeface="Calibri"/>
              </a:rPr>
              <a:t>Уровень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68496" y="6163056"/>
            <a:ext cx="384048" cy="32004"/>
          </a:xfrm>
          <a:prstGeom prst="rect">
            <a:avLst/>
          </a:prstGeom>
          <a:solidFill>
            <a:srgbClr val="3E5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517136" y="5989320"/>
            <a:ext cx="384048" cy="384048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020056" y="6062472"/>
            <a:ext cx="1033271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F0F6FC"/>
                </a:solidFill>
                <a:latin typeface="Calibri"/>
              </a:rPr>
              <a:t>Признаки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852160" y="6163056"/>
            <a:ext cx="384048" cy="32004"/>
          </a:xfrm>
          <a:prstGeom prst="rect">
            <a:avLst/>
          </a:prstGeom>
          <a:solidFill>
            <a:srgbClr val="3E5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6400800" y="5989320"/>
            <a:ext cx="384048" cy="384048"/>
          </a:xfrm>
          <a:prstGeom prst="ellipse">
            <a:avLst/>
          </a:prstGeom>
          <a:solidFill>
            <a:srgbClr val="75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903720" y="6062472"/>
            <a:ext cx="1033271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F0F6FC"/>
                </a:solidFill>
                <a:latin typeface="Calibri"/>
              </a:rPr>
              <a:t>AI-агент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35824" y="6163056"/>
            <a:ext cx="384048" cy="32004"/>
          </a:xfrm>
          <a:prstGeom prst="rect">
            <a:avLst/>
          </a:prstGeom>
          <a:solidFill>
            <a:srgbClr val="3E5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8284464" y="5989320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787384" y="6062472"/>
            <a:ext cx="1033271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F0F6FC"/>
                </a:solidFill>
                <a:latin typeface="Calibri"/>
              </a:rPr>
              <a:t>P(success)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11480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00D1FF"/>
                </a:solidFill>
                <a:latin typeface="Calibri"/>
              </a:rPr>
              <a:t>GAME AI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777240"/>
            <a:ext cx="7818120" cy="8412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100" b="1">
                <a:solidFill>
                  <a:srgbClr val="F0F6FC"/>
                </a:solidFill>
                <a:latin typeface="Calibri Light"/>
              </a:rPr>
              <a:t>Данные, инструменты и воспроизводимость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38528"/>
            <a:ext cx="5943600" cy="2404872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3E5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103120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00D1FF"/>
                </a:solidFill>
                <a:latin typeface="Calibri"/>
              </a:rPr>
              <a:t>Структура датасета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68880"/>
            <a:ext cx="15087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9EAEC3"/>
                </a:solidFill>
                <a:latin typeface="Calibri"/>
              </a:rPr>
              <a:t>Блок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468880"/>
            <a:ext cx="42519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9EAEC3"/>
                </a:solidFill>
                <a:latin typeface="Calibri"/>
              </a:rPr>
              <a:t>Поля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" y="2743200"/>
            <a:ext cx="5486400" cy="10972"/>
          </a:xfrm>
          <a:prstGeom prst="rect">
            <a:avLst/>
          </a:prstGeom>
          <a:solidFill>
            <a:srgbClr val="2B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2816352"/>
            <a:ext cx="15087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FFC457"/>
                </a:solidFill>
                <a:latin typeface="Calibri"/>
              </a:rPr>
              <a:t>Генерация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2816352"/>
            <a:ext cx="42519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F0F6FC"/>
                </a:solidFill>
                <a:latin typeface="Calibri"/>
              </a:rPr>
              <a:t>seed, size, obstacle_density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" y="3145536"/>
            <a:ext cx="5486400" cy="10972"/>
          </a:xfrm>
          <a:prstGeom prst="rect">
            <a:avLst/>
          </a:prstGeom>
          <a:solidFill>
            <a:srgbClr val="2B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218688"/>
            <a:ext cx="15087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FFC457"/>
                </a:solidFill>
                <a:latin typeface="Calibri"/>
              </a:rPr>
              <a:t>Структура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3218688"/>
            <a:ext cx="42519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F0F6FC"/>
                </a:solidFill>
                <a:latin typeface="Calibri"/>
              </a:rPr>
              <a:t>shortest_path, dead_ends, branching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" y="3547872"/>
            <a:ext cx="5486400" cy="10972"/>
          </a:xfrm>
          <a:prstGeom prst="rect">
            <a:avLst/>
          </a:prstGeom>
          <a:solidFill>
            <a:srgbClr val="2B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621024"/>
            <a:ext cx="15087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FFC457"/>
                </a:solidFill>
                <a:latin typeface="Calibri"/>
              </a:rPr>
              <a:t>Запуск агента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3621024"/>
            <a:ext cx="42519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F0F6FC"/>
                </a:solidFill>
                <a:latin typeface="Calibri"/>
              </a:rPr>
              <a:t>agent, max_steps, reward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" y="3950208"/>
            <a:ext cx="5486400" cy="10972"/>
          </a:xfrm>
          <a:prstGeom prst="rect">
            <a:avLst/>
          </a:prstGeom>
          <a:solidFill>
            <a:srgbClr val="2B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4023360"/>
            <a:ext cx="15087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FFC457"/>
                </a:solidFill>
                <a:latin typeface="Calibri"/>
              </a:rPr>
              <a:t>Результат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4023360"/>
            <a:ext cx="42519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F0F6FC"/>
                </a:solidFill>
                <a:latin typeface="Calibri"/>
              </a:rPr>
              <a:t>success, steps, difficulty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1938528"/>
            <a:ext cx="4160520" cy="2148840"/>
          </a:xfrm>
          <a:prstGeom prst="roundRect">
            <a:avLst/>
          </a:prstGeom>
          <a:solidFill>
            <a:srgbClr val="0D172A"/>
          </a:solidFill>
          <a:ln w="12700">
            <a:solidFill>
              <a:srgbClr val="3E5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96912" y="2103120"/>
            <a:ext cx="2560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48E2A4"/>
                </a:solidFill>
                <a:latin typeface="Calibri"/>
              </a:rPr>
              <a:t>Инструменты</a:t>
            </a:r>
          </a:p>
        </p:txBody>
      </p:sp>
      <p:sp>
        <p:nvSpPr>
          <p:cNvPr id="28" name="Oval 27"/>
          <p:cNvSpPr/>
          <p:nvPr/>
        </p:nvSpPr>
        <p:spPr>
          <a:xfrm>
            <a:off x="7296912" y="2569463"/>
            <a:ext cx="164592" cy="164592"/>
          </a:xfrm>
          <a:prstGeom prst="ellipse">
            <a:avLst/>
          </a:prstGeom>
          <a:solidFill>
            <a:srgbClr val="00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0" y="2514600"/>
            <a:ext cx="11704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0D1FF"/>
                </a:solidFill>
                <a:latin typeface="Calibri"/>
              </a:rPr>
              <a:t>Среда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514600"/>
            <a:ext cx="31089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F0F6FC"/>
                </a:solidFill>
                <a:latin typeface="Calibri"/>
              </a:rPr>
              <a:t>MiniGrid, Gymnasium</a:t>
            </a:r>
          </a:p>
        </p:txBody>
      </p:sp>
      <p:sp>
        <p:nvSpPr>
          <p:cNvPr id="31" name="Oval 30"/>
          <p:cNvSpPr/>
          <p:nvPr/>
        </p:nvSpPr>
        <p:spPr>
          <a:xfrm>
            <a:off x="7296912" y="2907791"/>
            <a:ext cx="164592" cy="164592"/>
          </a:xfrm>
          <a:prstGeom prst="ellipse">
            <a:avLst/>
          </a:prstGeom>
          <a:solidFill>
            <a:srgbClr val="48E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0" y="2852928"/>
            <a:ext cx="11704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48E2A4"/>
                </a:solidFill>
                <a:latin typeface="Calibri"/>
              </a:rPr>
              <a:t>Агенты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852928"/>
            <a:ext cx="31089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F0F6FC"/>
                </a:solidFill>
                <a:latin typeface="Calibri"/>
              </a:rPr>
              <a:t>Random, BFS/A*, PPO/DQN</a:t>
            </a:r>
          </a:p>
        </p:txBody>
      </p:sp>
      <p:sp>
        <p:nvSpPr>
          <p:cNvPr id="34" name="Oval 33"/>
          <p:cNvSpPr/>
          <p:nvPr/>
        </p:nvSpPr>
        <p:spPr>
          <a:xfrm>
            <a:off x="7296912" y="3246120"/>
            <a:ext cx="164592" cy="164592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89520" y="3191256"/>
            <a:ext cx="11704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FFC457"/>
                </a:solidFill>
                <a:latin typeface="Calibri"/>
              </a:rPr>
              <a:t>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191256"/>
            <a:ext cx="31089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F0F6FC"/>
                </a:solidFill>
                <a:latin typeface="Calibri"/>
              </a:rPr>
              <a:t>SVM, Logistic Regression, Random Forest</a:t>
            </a:r>
          </a:p>
        </p:txBody>
      </p:sp>
      <p:sp>
        <p:nvSpPr>
          <p:cNvPr id="37" name="Oval 36"/>
          <p:cNvSpPr/>
          <p:nvPr/>
        </p:nvSpPr>
        <p:spPr>
          <a:xfrm>
            <a:off x="7296912" y="3584448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89520" y="3529584"/>
            <a:ext cx="11704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FF6B6B"/>
                </a:solidFill>
                <a:latin typeface="Calibri"/>
              </a:rPr>
              <a:t>XAI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529584"/>
            <a:ext cx="31089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F0F6FC"/>
                </a:solidFill>
                <a:latin typeface="Calibri"/>
              </a:rPr>
              <a:t>SHAP/LIME для объяснения факторов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572000"/>
            <a:ext cx="5440680" cy="1005840"/>
          </a:xfrm>
          <a:prstGeom prst="roundRect">
            <a:avLst/>
          </a:prstGeom>
          <a:solidFill>
            <a:srgbClr val="0C1B2B"/>
          </a:solidFill>
          <a:ln w="12700">
            <a:solidFill>
              <a:srgbClr val="00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4791456"/>
            <a:ext cx="486460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00D1FF"/>
                </a:solidFill>
                <a:latin typeface="Calibri"/>
              </a:rPr>
              <a:t>Воспроизводимость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074920"/>
            <a:ext cx="486460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F0F6FC"/>
                </a:solidFill>
                <a:latin typeface="Calibri"/>
              </a:rPr>
              <a:t>config.yaml + seed + requirements.txt + metrics.json позволяют повторить эксперимент.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40880" y="4572000"/>
            <a:ext cx="4160520" cy="1005840"/>
          </a:xfrm>
          <a:prstGeom prst="roundRect">
            <a:avLst/>
          </a:prstGeom>
          <a:solidFill>
            <a:srgbClr val="221C12"/>
          </a:solidFill>
          <a:ln w="1270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42631" y="4791456"/>
            <a:ext cx="3584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C457"/>
                </a:solidFill>
                <a:latin typeface="Calibri"/>
              </a:rPr>
              <a:t>Работа с новым датасетом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42631" y="5074920"/>
            <a:ext cx="35844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F0F6FC"/>
                </a:solidFill>
                <a:latin typeface="Calibri"/>
              </a:rPr>
              <a:t>CSV проходит валидацию, обучение моделей и построение графиков заново.</a:t>
            </a:r>
          </a:p>
        </p:txBody>
      </p:sp>
      <p:sp>
        <p:nvSpPr>
          <p:cNvPr id="46" name="Oval 45"/>
          <p:cNvSpPr/>
          <p:nvPr/>
        </p:nvSpPr>
        <p:spPr>
          <a:xfrm>
            <a:off x="749808" y="6053328"/>
            <a:ext cx="384048" cy="384048"/>
          </a:xfrm>
          <a:prstGeom prst="ellipse">
            <a:avLst/>
          </a:prstGeom>
          <a:solidFill>
            <a:srgbClr val="00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52728" y="6126480"/>
            <a:ext cx="1033271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F0F6FC"/>
                </a:solidFill>
                <a:latin typeface="Calibri"/>
              </a:rPr>
              <a:t>Seed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84831" y="6227064"/>
            <a:ext cx="384048" cy="32004"/>
          </a:xfrm>
          <a:prstGeom prst="rect">
            <a:avLst/>
          </a:prstGeom>
          <a:solidFill>
            <a:srgbClr val="3E5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633472" y="6053328"/>
            <a:ext cx="384048" cy="384048"/>
          </a:xfrm>
          <a:prstGeom prst="ellipse">
            <a:avLst/>
          </a:prstGeom>
          <a:solidFill>
            <a:srgbClr val="48E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136391" y="6126480"/>
            <a:ext cx="1033271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F0F6FC"/>
                </a:solidFill>
                <a:latin typeface="Calibri"/>
              </a:rPr>
              <a:t>Уровень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68496" y="6227064"/>
            <a:ext cx="384048" cy="32004"/>
          </a:xfrm>
          <a:prstGeom prst="rect">
            <a:avLst/>
          </a:prstGeom>
          <a:solidFill>
            <a:srgbClr val="3E5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517136" y="6053328"/>
            <a:ext cx="384048" cy="384048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0056" y="6126480"/>
            <a:ext cx="1033271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F0F6FC"/>
                </a:solidFill>
                <a:latin typeface="Calibri"/>
              </a:rPr>
              <a:t>Признаки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52160" y="6227064"/>
            <a:ext cx="384048" cy="32004"/>
          </a:xfrm>
          <a:prstGeom prst="rect">
            <a:avLst/>
          </a:prstGeom>
          <a:solidFill>
            <a:srgbClr val="3E5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400800" y="6053328"/>
            <a:ext cx="384048" cy="384048"/>
          </a:xfrm>
          <a:prstGeom prst="ellipse">
            <a:avLst/>
          </a:prstGeom>
          <a:solidFill>
            <a:srgbClr val="75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903720" y="6126480"/>
            <a:ext cx="1033271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F0F6FC"/>
                </a:solidFill>
                <a:latin typeface="Calibri"/>
              </a:rPr>
              <a:t>AI-агент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35824" y="6227064"/>
            <a:ext cx="384048" cy="32004"/>
          </a:xfrm>
          <a:prstGeom prst="rect">
            <a:avLst/>
          </a:prstGeom>
          <a:solidFill>
            <a:srgbClr val="3E5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284464" y="6053328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787384" y="6126480"/>
            <a:ext cx="1033271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F0F6FC"/>
                </a:solidFill>
                <a:latin typeface="Calibri"/>
              </a:rPr>
              <a:t>P(success)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226</Words>
  <Application>Microsoft Office PowerPoint</Application>
  <PresentationFormat>Widescreen</PresentationFormat>
  <Paragraphs>57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Denis Britcov</cp:lastModifiedBy>
  <cp:revision>3</cp:revision>
  <dcterms:created xsi:type="dcterms:W3CDTF">2013-01-27T09:14:16Z</dcterms:created>
  <dcterms:modified xsi:type="dcterms:W3CDTF">2026-09-16T15:52:16Z</dcterms:modified>
  <cp:category/>
</cp:coreProperties>
</file>